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2281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2530321"/>
            <a:ext cx="9445523" cy="179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Synchronization Issues in Multi‑Camera Systems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332165"/>
            <a:ext cx="4991100" cy="1659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Presented </a:t>
            </a:r>
            <a:r>
              <a:rPr lang="en-US" sz="35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By</a:t>
            </a:r>
          </a:p>
          <a:p>
            <a:pPr algn="ctr">
              <a:lnSpc>
                <a:spcPts val="4368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 Florina</a:t>
            </a:r>
          </a:p>
          <a:p>
            <a:pPr algn="ctr">
              <a:lnSpc>
                <a:spcPts val="4368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192521479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084041"/>
            <a:ext cx="16303523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is a Multi‑Camera System?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3993061"/>
            <a:ext cx="6106268" cy="3434658"/>
            <a:chOff x="0" y="0"/>
            <a:chExt cx="8141691" cy="4579544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8141716" cy="4579493"/>
            </a:xfrm>
            <a:custGeom>
              <a:avLst/>
              <a:gdLst/>
              <a:ahLst/>
              <a:cxnLst/>
              <a:rect l="l" t="t" r="r" b="b"/>
              <a:pathLst>
                <a:path w="8141716" h="4579493">
                  <a:moveTo>
                    <a:pt x="0" y="0"/>
                  </a:moveTo>
                  <a:lnTo>
                    <a:pt x="8141716" y="0"/>
                  </a:lnTo>
                  <a:lnTo>
                    <a:pt x="8141716" y="4579493"/>
                  </a:lnTo>
                  <a:lnTo>
                    <a:pt x="0" y="4579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" r="-15" b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799784" y="3406378"/>
            <a:ext cx="950535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Two or more cameras capture the same scene from different viewpoints and cooperate to improve perception. Common goals: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99784" y="4568723"/>
            <a:ext cx="9505350" cy="219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Wider field of view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Improved object detection and redundancy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3D reconstruction and depth estimation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Robust multi‑object tracking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99784" y="6935686"/>
            <a:ext cx="950535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Typical applications: self‑driving cars, CCTV surveillance, robotics, sports analytics (Hawk‑Eye), and smart factories.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2043265"/>
            <a:ext cx="9445523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is Synchronization?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3110503"/>
            <a:ext cx="9445523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Synchronization means all cameras capture frames at the same instant so images represent a single physical moment. It is essential because downstream algorithms fuse multi‑view inputs assuming temporal alignment.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87476" y="5324923"/>
            <a:ext cx="647405" cy="647405"/>
            <a:chOff x="0" y="0"/>
            <a:chExt cx="863206" cy="8632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702056" y="0"/>
                  </a:lnTo>
                  <a:cubicBezTo>
                    <a:pt x="791083" y="0"/>
                    <a:pt x="863219" y="72136"/>
                    <a:pt x="863219" y="161163"/>
                  </a:cubicBezTo>
                  <a:lnTo>
                    <a:pt x="863219" y="702056"/>
                  </a:lnTo>
                  <a:cubicBezTo>
                    <a:pt x="863219" y="791083"/>
                    <a:pt x="791083" y="863219"/>
                    <a:pt x="702056" y="863219"/>
                  </a:cubicBezTo>
                  <a:lnTo>
                    <a:pt x="161163" y="863219"/>
                  </a:lnTo>
                  <a:cubicBezTo>
                    <a:pt x="72136" y="863219"/>
                    <a:pt x="0" y="791083"/>
                    <a:pt x="0" y="70205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4" name="Freeform 14" descr="preencoded.png"/>
          <p:cNvSpPr/>
          <p:nvPr/>
        </p:nvSpPr>
        <p:spPr>
          <a:xfrm>
            <a:off x="1098575" y="5435946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111" r="-1111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913630" y="5417496"/>
            <a:ext cx="852413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Temporal alignment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13630" y="5954316"/>
            <a:ext cx="852413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Frames share the same timestamp to avoid motion mismatch.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87476" y="7055939"/>
            <a:ext cx="647405" cy="647405"/>
            <a:chOff x="0" y="0"/>
            <a:chExt cx="863206" cy="86320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702056" y="0"/>
                  </a:lnTo>
                  <a:cubicBezTo>
                    <a:pt x="791083" y="0"/>
                    <a:pt x="863219" y="72136"/>
                    <a:pt x="863219" y="161163"/>
                  </a:cubicBezTo>
                  <a:lnTo>
                    <a:pt x="863219" y="702056"/>
                  </a:lnTo>
                  <a:cubicBezTo>
                    <a:pt x="863219" y="791083"/>
                    <a:pt x="791083" y="863219"/>
                    <a:pt x="702056" y="863219"/>
                  </a:cubicBezTo>
                  <a:lnTo>
                    <a:pt x="161163" y="863219"/>
                  </a:lnTo>
                  <a:cubicBezTo>
                    <a:pt x="72136" y="863219"/>
                    <a:pt x="0" y="791083"/>
                    <a:pt x="0" y="70205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9" name="Freeform 19" descr="preencoded.png"/>
          <p:cNvSpPr/>
          <p:nvPr/>
        </p:nvSpPr>
        <p:spPr>
          <a:xfrm>
            <a:off x="1098575" y="7166972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2221" b="-22221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913630" y="7148513"/>
            <a:ext cx="852413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Consistent inputs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13630" y="7685332"/>
            <a:ext cx="852413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Ensures reliable triangulation, tracking and sensor fusion.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282133"/>
            <a:ext cx="16303523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Poor Sync Breaks Vision Systems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065537"/>
            <a:ext cx="8655548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When cameras are unsynchronised, the system may combine images of different instants. Consequences: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227882"/>
            <a:ext cx="8655548" cy="219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Incorrect object positions → bad localisation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Fragmented tracks and identity switches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Depth and distance estimation errors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Poor decisions in safety‑critical systems (e.g., braking)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349065" y="3754041"/>
            <a:ext cx="6956079" cy="3912689"/>
            <a:chOff x="0" y="0"/>
            <a:chExt cx="9274772" cy="5216919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9274810" cy="5216906"/>
            </a:xfrm>
            <a:custGeom>
              <a:avLst/>
              <a:gdLst/>
              <a:ahLst/>
              <a:cxnLst/>
              <a:rect l="l" t="t" r="r" b="b"/>
              <a:pathLst>
                <a:path w="9274810" h="5216906">
                  <a:moveTo>
                    <a:pt x="0" y="0"/>
                  </a:moveTo>
                  <a:lnTo>
                    <a:pt x="9274810" y="0"/>
                  </a:lnTo>
                  <a:lnTo>
                    <a:pt x="9274810" y="5216906"/>
                  </a:lnTo>
                  <a:lnTo>
                    <a:pt x="0" y="5216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" r="-2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31977" y="1048045"/>
            <a:ext cx="16303523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Real‑World Example: Self‑Driving Car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15400" y="3561007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Scenario: motorcycle approaches and passes the vehicle. If cameras are not synchronous: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62910" y="4670817"/>
            <a:ext cx="7805890" cy="164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AutoNum type="arabicPeriod"/>
            </a:pPr>
            <a:r>
              <a:rPr lang="en-US" sz="2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Front view shows motorcycle ahead</a:t>
            </a:r>
          </a:p>
          <a:p>
            <a:pPr marL="530860" lvl="1" indent="-265430" algn="l">
              <a:lnSpc>
                <a:spcPts val="3511"/>
              </a:lnSpc>
              <a:buAutoNum type="arabicPeriod"/>
            </a:pPr>
            <a:r>
              <a:rPr lang="en-US" sz="2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Left view shows motorcycle alongside</a:t>
            </a:r>
          </a:p>
          <a:p>
            <a:pPr marL="530860" lvl="1" indent="-265430" algn="l">
              <a:lnSpc>
                <a:spcPts val="3511"/>
              </a:lnSpc>
              <a:buAutoNum type="arabicPeriod"/>
            </a:pPr>
            <a:r>
              <a:rPr lang="en-US" sz="2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Rear view shows motorcycle already past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6432499"/>
            <a:ext cx="7805890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Fused perception can be inconsistent → track fragmentation, incorrect collision risk estimates and potential control errors.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2FECD13-D5B6-B1A4-600B-1BEA08196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190455"/>
            <a:ext cx="7048500" cy="7048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954406"/>
            <a:ext cx="16303523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Common Causes of Synchronization Issues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3188" y="3230166"/>
            <a:ext cx="5283546" cy="2655246"/>
            <a:chOff x="0" y="0"/>
            <a:chExt cx="7044728" cy="35403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44690" cy="3540252"/>
            </a:xfrm>
            <a:custGeom>
              <a:avLst/>
              <a:gdLst/>
              <a:ahLst/>
              <a:cxnLst/>
              <a:rect l="l" t="t" r="r" b="b"/>
              <a:pathLst>
                <a:path w="7044690" h="3540252">
                  <a:moveTo>
                    <a:pt x="0" y="161036"/>
                  </a:moveTo>
                  <a:cubicBezTo>
                    <a:pt x="0" y="72136"/>
                    <a:pt x="72136" y="0"/>
                    <a:pt x="161036" y="0"/>
                  </a:cubicBezTo>
                  <a:lnTo>
                    <a:pt x="6883654" y="0"/>
                  </a:lnTo>
                  <a:cubicBezTo>
                    <a:pt x="6972681" y="0"/>
                    <a:pt x="7044690" y="72136"/>
                    <a:pt x="7044690" y="161036"/>
                  </a:cubicBezTo>
                  <a:lnTo>
                    <a:pt x="7044690" y="3379216"/>
                  </a:lnTo>
                  <a:cubicBezTo>
                    <a:pt x="7044690" y="3468243"/>
                    <a:pt x="6972554" y="3540252"/>
                    <a:pt x="6883654" y="3540252"/>
                  </a:cubicBezTo>
                  <a:lnTo>
                    <a:pt x="161036" y="3540252"/>
                  </a:lnTo>
                  <a:cubicBezTo>
                    <a:pt x="72136" y="3540379"/>
                    <a:pt x="0" y="3468243"/>
                    <a:pt x="0" y="337921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313850" y="3561312"/>
            <a:ext cx="460221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Time delay / latency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3850" y="4098131"/>
            <a:ext cx="4602213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Capture or transmission delays between cameras create temporal offsets.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02156" y="3230166"/>
            <a:ext cx="5283546" cy="2655246"/>
            <a:chOff x="0" y="0"/>
            <a:chExt cx="7044728" cy="35403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44690" cy="3540252"/>
            </a:xfrm>
            <a:custGeom>
              <a:avLst/>
              <a:gdLst/>
              <a:ahLst/>
              <a:cxnLst/>
              <a:rect l="l" t="t" r="r" b="b"/>
              <a:pathLst>
                <a:path w="7044690" h="3540252">
                  <a:moveTo>
                    <a:pt x="0" y="161036"/>
                  </a:moveTo>
                  <a:cubicBezTo>
                    <a:pt x="0" y="72136"/>
                    <a:pt x="72136" y="0"/>
                    <a:pt x="161036" y="0"/>
                  </a:cubicBezTo>
                  <a:lnTo>
                    <a:pt x="6883654" y="0"/>
                  </a:lnTo>
                  <a:cubicBezTo>
                    <a:pt x="6972681" y="0"/>
                    <a:pt x="7044690" y="72136"/>
                    <a:pt x="7044690" y="161036"/>
                  </a:cubicBezTo>
                  <a:lnTo>
                    <a:pt x="7044690" y="3379216"/>
                  </a:lnTo>
                  <a:cubicBezTo>
                    <a:pt x="7044690" y="3468243"/>
                    <a:pt x="6972554" y="3540252"/>
                    <a:pt x="6883654" y="3540252"/>
                  </a:cubicBezTo>
                  <a:lnTo>
                    <a:pt x="161036" y="3540252"/>
                  </a:lnTo>
                  <a:cubicBezTo>
                    <a:pt x="72136" y="3540379"/>
                    <a:pt x="0" y="3468243"/>
                    <a:pt x="0" y="337921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842817" y="3561312"/>
            <a:ext cx="460221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Frame mismatch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2817" y="4098131"/>
            <a:ext cx="460221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Different frame counters or dropped frames break alignment.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31113" y="3230166"/>
            <a:ext cx="5283546" cy="2655246"/>
            <a:chOff x="0" y="0"/>
            <a:chExt cx="7044728" cy="35403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44690" cy="3540252"/>
            </a:xfrm>
            <a:custGeom>
              <a:avLst/>
              <a:gdLst/>
              <a:ahLst/>
              <a:cxnLst/>
              <a:rect l="l" t="t" r="r" b="b"/>
              <a:pathLst>
                <a:path w="7044690" h="3540252">
                  <a:moveTo>
                    <a:pt x="0" y="161036"/>
                  </a:moveTo>
                  <a:cubicBezTo>
                    <a:pt x="0" y="72136"/>
                    <a:pt x="72136" y="0"/>
                    <a:pt x="161036" y="0"/>
                  </a:cubicBezTo>
                  <a:lnTo>
                    <a:pt x="6883654" y="0"/>
                  </a:lnTo>
                  <a:cubicBezTo>
                    <a:pt x="6972681" y="0"/>
                    <a:pt x="7044690" y="72136"/>
                    <a:pt x="7044690" y="161036"/>
                  </a:cubicBezTo>
                  <a:lnTo>
                    <a:pt x="7044690" y="3379216"/>
                  </a:lnTo>
                  <a:cubicBezTo>
                    <a:pt x="7044690" y="3468243"/>
                    <a:pt x="6972554" y="3540252"/>
                    <a:pt x="6883654" y="3540252"/>
                  </a:cubicBezTo>
                  <a:lnTo>
                    <a:pt x="161036" y="3540252"/>
                  </a:lnTo>
                  <a:cubicBezTo>
                    <a:pt x="72136" y="3540379"/>
                    <a:pt x="0" y="3468243"/>
                    <a:pt x="0" y="337921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2371784" y="3561312"/>
            <a:ext cx="460221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Varying frame rates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71784" y="4098131"/>
            <a:ext cx="460221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30 FPS vs 60 FPS requires careful alignment or interpolation.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73188" y="6130823"/>
            <a:ext cx="8048034" cy="2201618"/>
            <a:chOff x="0" y="0"/>
            <a:chExt cx="10730713" cy="29354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30737" cy="2935478"/>
            </a:xfrm>
            <a:custGeom>
              <a:avLst/>
              <a:gdLst/>
              <a:ahLst/>
              <a:cxnLst/>
              <a:rect l="l" t="t" r="r" b="b"/>
              <a:pathLst>
                <a:path w="10730737" h="2935478">
                  <a:moveTo>
                    <a:pt x="0" y="161544"/>
                  </a:moveTo>
                  <a:cubicBezTo>
                    <a:pt x="0" y="72390"/>
                    <a:pt x="72390" y="0"/>
                    <a:pt x="161544" y="0"/>
                  </a:cubicBezTo>
                  <a:lnTo>
                    <a:pt x="10569194" y="0"/>
                  </a:lnTo>
                  <a:cubicBezTo>
                    <a:pt x="10658475" y="0"/>
                    <a:pt x="10730737" y="72390"/>
                    <a:pt x="10730737" y="161544"/>
                  </a:cubicBezTo>
                  <a:lnTo>
                    <a:pt x="10730737" y="2773934"/>
                  </a:lnTo>
                  <a:cubicBezTo>
                    <a:pt x="10730737" y="2863215"/>
                    <a:pt x="10658348" y="2935478"/>
                    <a:pt x="10569194" y="2935478"/>
                  </a:cubicBezTo>
                  <a:lnTo>
                    <a:pt x="161544" y="2935478"/>
                  </a:lnTo>
                  <a:cubicBezTo>
                    <a:pt x="72390" y="2935478"/>
                    <a:pt x="0" y="2863088"/>
                    <a:pt x="0" y="277393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313850" y="6461970"/>
            <a:ext cx="736669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Clock drift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3850" y="6998789"/>
            <a:ext cx="736669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Independent internal clocks diverge over time without correction.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66634" y="6130823"/>
            <a:ext cx="8048034" cy="2201618"/>
            <a:chOff x="0" y="0"/>
            <a:chExt cx="10730713" cy="29354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30737" cy="2935478"/>
            </a:xfrm>
            <a:custGeom>
              <a:avLst/>
              <a:gdLst/>
              <a:ahLst/>
              <a:cxnLst/>
              <a:rect l="l" t="t" r="r" b="b"/>
              <a:pathLst>
                <a:path w="10730737" h="2935478">
                  <a:moveTo>
                    <a:pt x="0" y="161544"/>
                  </a:moveTo>
                  <a:cubicBezTo>
                    <a:pt x="0" y="72390"/>
                    <a:pt x="72390" y="0"/>
                    <a:pt x="161544" y="0"/>
                  </a:cubicBezTo>
                  <a:lnTo>
                    <a:pt x="10569194" y="0"/>
                  </a:lnTo>
                  <a:cubicBezTo>
                    <a:pt x="10658475" y="0"/>
                    <a:pt x="10730737" y="72390"/>
                    <a:pt x="10730737" y="161544"/>
                  </a:cubicBezTo>
                  <a:lnTo>
                    <a:pt x="10730737" y="2773934"/>
                  </a:lnTo>
                  <a:cubicBezTo>
                    <a:pt x="10730737" y="2863215"/>
                    <a:pt x="10658348" y="2935478"/>
                    <a:pt x="10569194" y="2935478"/>
                  </a:cubicBezTo>
                  <a:lnTo>
                    <a:pt x="161544" y="2935478"/>
                  </a:lnTo>
                  <a:cubicBezTo>
                    <a:pt x="72390" y="2935478"/>
                    <a:pt x="0" y="2863088"/>
                    <a:pt x="0" y="277393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9607306" y="6461970"/>
            <a:ext cx="736669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Network jitter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7306" y="6998789"/>
            <a:ext cx="736669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Packet delays or reordering affect timestamps and delivery timing.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24606" y="6893794"/>
            <a:ext cx="9445523" cy="1587551"/>
            <a:chOff x="0" y="0"/>
            <a:chExt cx="12594031" cy="21167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93955" cy="2116709"/>
            </a:xfrm>
            <a:custGeom>
              <a:avLst/>
              <a:gdLst/>
              <a:ahLst/>
              <a:cxnLst/>
              <a:rect l="l" t="t" r="r" b="b"/>
              <a:pathLst>
                <a:path w="12593955" h="211670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2435205" y="0"/>
                  </a:lnTo>
                  <a:cubicBezTo>
                    <a:pt x="12522836" y="0"/>
                    <a:pt x="12593955" y="71120"/>
                    <a:pt x="12593955" y="158750"/>
                  </a:cubicBezTo>
                  <a:lnTo>
                    <a:pt x="12593955" y="1957959"/>
                  </a:lnTo>
                  <a:cubicBezTo>
                    <a:pt x="12593955" y="2045589"/>
                    <a:pt x="12522836" y="2116709"/>
                    <a:pt x="12435205" y="2116709"/>
                  </a:cubicBezTo>
                  <a:lnTo>
                    <a:pt x="158750" y="2116709"/>
                  </a:lnTo>
                  <a:cubicBezTo>
                    <a:pt x="71120" y="2116709"/>
                    <a:pt x="0" y="2045589"/>
                    <a:pt x="0" y="195795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510855" y="7404038"/>
            <a:ext cx="354359" cy="283521"/>
            <a:chOff x="0" y="0"/>
            <a:chExt cx="472478" cy="378028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72" r="-680" b="13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307437" y="1771517"/>
            <a:ext cx="9445523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Hardware Solutions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07400" y="2804342"/>
            <a:ext cx="103599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Primary hardware strategies: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07400" y="3700338"/>
            <a:ext cx="9445523" cy="3005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Central trigger: single pulse drives synchronized exposure across all cameras.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Genlock / hardware clock distribution: share a stable reference clock to eliminate drift.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Wired capture: low‑latency cabling reduces network jitter and packet loss.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58748" y="7191069"/>
            <a:ext cx="8240611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Hardware sync provides the strongest temporal guarantees for safety‑critical systems.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7730B4-60FB-D850-5FC9-50172F8EA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800100"/>
            <a:ext cx="7709074" cy="8267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23170"/>
            <a:ext cx="16303523" cy="595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6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Software &amp; Network Techniques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1819570"/>
            <a:ext cx="7941764" cy="38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When hardware sync is unavailable or as a complement: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992238" y="2411606"/>
            <a:ext cx="575815" cy="575815"/>
          </a:xfrm>
          <a:custGeom>
            <a:avLst/>
            <a:gdLst/>
            <a:ahLst/>
            <a:cxnLst/>
            <a:rect l="l" t="t" r="r" b="b"/>
            <a:pathLst>
              <a:path w="575815" h="575815">
                <a:moveTo>
                  <a:pt x="0" y="0"/>
                </a:moveTo>
                <a:lnTo>
                  <a:pt x="575815" y="0"/>
                </a:lnTo>
                <a:lnTo>
                  <a:pt x="575815" y="575815"/>
                </a:lnTo>
                <a:lnTo>
                  <a:pt x="0" y="5758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6392" b="-1639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92238" y="3211859"/>
            <a:ext cx="7027364" cy="36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NTP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720703"/>
            <a:ext cx="7027364" cy="715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Network Time Protocol — coarse clock alignment over networks (ms level).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92238" y="4810573"/>
            <a:ext cx="575815" cy="575815"/>
          </a:xfrm>
          <a:custGeom>
            <a:avLst/>
            <a:gdLst/>
            <a:ahLst/>
            <a:cxnLst/>
            <a:rect l="l" t="t" r="r" b="b"/>
            <a:pathLst>
              <a:path w="575815" h="575815">
                <a:moveTo>
                  <a:pt x="0" y="0"/>
                </a:moveTo>
                <a:lnTo>
                  <a:pt x="575815" y="0"/>
                </a:lnTo>
                <a:lnTo>
                  <a:pt x="575815" y="575815"/>
                </a:lnTo>
                <a:lnTo>
                  <a:pt x="0" y="5758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0" b="-81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92238" y="5610825"/>
            <a:ext cx="7027364" cy="36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PTP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119660"/>
            <a:ext cx="7027364" cy="715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Precision Time Protocol — sub‑millisecond accuracy on supported networks.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92238" y="7209530"/>
            <a:ext cx="575815" cy="575815"/>
          </a:xfrm>
          <a:custGeom>
            <a:avLst/>
            <a:gdLst/>
            <a:ahLst/>
            <a:cxnLst/>
            <a:rect l="l" t="t" r="r" b="b"/>
            <a:pathLst>
              <a:path w="575815" h="575815">
                <a:moveTo>
                  <a:pt x="0" y="0"/>
                </a:moveTo>
                <a:lnTo>
                  <a:pt x="575815" y="0"/>
                </a:lnTo>
                <a:lnTo>
                  <a:pt x="575815" y="575814"/>
                </a:lnTo>
                <a:lnTo>
                  <a:pt x="0" y="575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9835" b="-9837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92238" y="8009782"/>
            <a:ext cx="7027364" cy="36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AI‑based alignment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238" y="8518627"/>
            <a:ext cx="7027364" cy="715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Post‑hoc frame alignment using feature matching, optical flow or learned temporal models.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591102" y="3120923"/>
            <a:ext cx="8714032" cy="4901508"/>
            <a:chOff x="0" y="0"/>
            <a:chExt cx="11618709" cy="6535344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1618722" cy="6535293"/>
            </a:xfrm>
            <a:custGeom>
              <a:avLst/>
              <a:gdLst/>
              <a:ahLst/>
              <a:cxnLst/>
              <a:rect l="l" t="t" r="r" b="b"/>
              <a:pathLst>
                <a:path w="11618722" h="6535293">
                  <a:moveTo>
                    <a:pt x="0" y="0"/>
                  </a:moveTo>
                  <a:lnTo>
                    <a:pt x="11618722" y="0"/>
                  </a:lnTo>
                  <a:lnTo>
                    <a:pt x="11618722" y="6535293"/>
                  </a:lnTo>
                  <a:lnTo>
                    <a:pt x="0" y="6535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1" b="-32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917972"/>
            <a:ext cx="16303523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Best Practices &amp; Engineering Checklist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2385117"/>
            <a:ext cx="647405" cy="647405"/>
            <a:chOff x="0" y="0"/>
            <a:chExt cx="863206" cy="8632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702056" y="0"/>
                  </a:lnTo>
                  <a:cubicBezTo>
                    <a:pt x="791083" y="0"/>
                    <a:pt x="863219" y="72136"/>
                    <a:pt x="863219" y="161163"/>
                  </a:cubicBezTo>
                  <a:lnTo>
                    <a:pt x="863219" y="702056"/>
                  </a:lnTo>
                  <a:cubicBezTo>
                    <a:pt x="863219" y="791083"/>
                    <a:pt x="791083" y="863219"/>
                    <a:pt x="702056" y="863219"/>
                  </a:cubicBezTo>
                  <a:lnTo>
                    <a:pt x="161163" y="863219"/>
                  </a:lnTo>
                  <a:cubicBezTo>
                    <a:pt x="72136" y="863219"/>
                    <a:pt x="0" y="791083"/>
                    <a:pt x="0" y="70205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98575" y="2443010"/>
            <a:ext cx="425206" cy="531609"/>
            <a:chOff x="0" y="0"/>
            <a:chExt cx="566941" cy="7088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6936" cy="708819"/>
            </a:xfrm>
            <a:custGeom>
              <a:avLst/>
              <a:gdLst/>
              <a:ahLst/>
              <a:cxnLst/>
              <a:rect l="l" t="t" r="r" b="b"/>
              <a:pathLst>
                <a:path w="566936" h="708819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1" r="-110412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566941" cy="718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13630" y="2477691"/>
            <a:ext cx="6884489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Define accuracy target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3630" y="3127924"/>
            <a:ext cx="688448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Specify required temporal tolerance (e.g., ±1 ms) based on object speed and system safety margins.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87476" y="4683176"/>
            <a:ext cx="647405" cy="647405"/>
            <a:chOff x="0" y="0"/>
            <a:chExt cx="863206" cy="8632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702056" y="0"/>
                  </a:lnTo>
                  <a:cubicBezTo>
                    <a:pt x="791083" y="0"/>
                    <a:pt x="863219" y="72136"/>
                    <a:pt x="863219" y="161163"/>
                  </a:cubicBezTo>
                  <a:lnTo>
                    <a:pt x="863219" y="702056"/>
                  </a:lnTo>
                  <a:cubicBezTo>
                    <a:pt x="863219" y="791083"/>
                    <a:pt x="791083" y="863219"/>
                    <a:pt x="702056" y="863219"/>
                  </a:cubicBezTo>
                  <a:lnTo>
                    <a:pt x="161163" y="863219"/>
                  </a:lnTo>
                  <a:cubicBezTo>
                    <a:pt x="72136" y="863219"/>
                    <a:pt x="0" y="791083"/>
                    <a:pt x="0" y="70205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98575" y="4741069"/>
            <a:ext cx="425206" cy="531609"/>
            <a:chOff x="0" y="0"/>
            <a:chExt cx="566941" cy="7088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6936" cy="708819"/>
            </a:xfrm>
            <a:custGeom>
              <a:avLst/>
              <a:gdLst/>
              <a:ahLst/>
              <a:cxnLst/>
              <a:rect l="l" t="t" r="r" b="b"/>
              <a:pathLst>
                <a:path w="566936" h="708819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1" r="-11041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566941" cy="718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13630" y="4775749"/>
            <a:ext cx="6884489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Prefer hardware sync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13630" y="5425973"/>
            <a:ext cx="688448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 central triggers or Genlock for mission‑critical deployments.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87476" y="6981225"/>
            <a:ext cx="647405" cy="647405"/>
            <a:chOff x="0" y="0"/>
            <a:chExt cx="863206" cy="8632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702056" y="0"/>
                  </a:lnTo>
                  <a:cubicBezTo>
                    <a:pt x="791083" y="0"/>
                    <a:pt x="863219" y="72136"/>
                    <a:pt x="863219" y="161163"/>
                  </a:cubicBezTo>
                  <a:lnTo>
                    <a:pt x="863219" y="702056"/>
                  </a:lnTo>
                  <a:cubicBezTo>
                    <a:pt x="863219" y="791083"/>
                    <a:pt x="791083" y="863219"/>
                    <a:pt x="702056" y="863219"/>
                  </a:cubicBezTo>
                  <a:lnTo>
                    <a:pt x="161163" y="863219"/>
                  </a:lnTo>
                  <a:cubicBezTo>
                    <a:pt x="72136" y="863219"/>
                    <a:pt x="0" y="791083"/>
                    <a:pt x="0" y="70205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098575" y="7039127"/>
            <a:ext cx="425206" cy="531609"/>
            <a:chOff x="0" y="0"/>
            <a:chExt cx="566941" cy="7088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6936" cy="708819"/>
            </a:xfrm>
            <a:custGeom>
              <a:avLst/>
              <a:gdLst/>
              <a:ahLst/>
              <a:cxnLst/>
              <a:rect l="l" t="t" r="r" b="b"/>
              <a:pathLst>
                <a:path w="566936" h="708819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1" r="-11041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66941" cy="718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913630" y="7073798"/>
            <a:ext cx="6884489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Use PTP over NTP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13630" y="7724032"/>
            <a:ext cx="688448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Where networked devices are required, implement PTP and test under load.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480356" y="2370830"/>
            <a:ext cx="3799284" cy="4118820"/>
            <a:chOff x="0" y="0"/>
            <a:chExt cx="5065712" cy="5491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65776" cy="5491734"/>
            </a:xfrm>
            <a:custGeom>
              <a:avLst/>
              <a:gdLst/>
              <a:ahLst/>
              <a:cxnLst/>
              <a:rect l="l" t="t" r="r" b="b"/>
              <a:pathLst>
                <a:path w="5065776" h="5491734">
                  <a:moveTo>
                    <a:pt x="0" y="160401"/>
                  </a:moveTo>
                  <a:cubicBezTo>
                    <a:pt x="0" y="71755"/>
                    <a:pt x="71755" y="0"/>
                    <a:pt x="160401" y="0"/>
                  </a:cubicBezTo>
                  <a:lnTo>
                    <a:pt x="4905375" y="0"/>
                  </a:lnTo>
                  <a:cubicBezTo>
                    <a:pt x="4993894" y="0"/>
                    <a:pt x="5065776" y="71755"/>
                    <a:pt x="5065776" y="160401"/>
                  </a:cubicBezTo>
                  <a:lnTo>
                    <a:pt x="5065776" y="5331333"/>
                  </a:lnTo>
                  <a:cubicBezTo>
                    <a:pt x="5065776" y="5419852"/>
                    <a:pt x="4994021" y="5491734"/>
                    <a:pt x="4905375" y="5491734"/>
                  </a:cubicBezTo>
                  <a:lnTo>
                    <a:pt x="160401" y="5491734"/>
                  </a:lnTo>
                  <a:cubicBezTo>
                    <a:pt x="71755" y="5491734"/>
                    <a:pt x="0" y="5419979"/>
                    <a:pt x="0" y="533133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9821018" y="2701976"/>
            <a:ext cx="311795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Validate in situ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821018" y="3352209"/>
            <a:ext cx="3117952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Run end‑to‑end tests with moving objects to measure temporal error and perception quality.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3525052" y="2370830"/>
            <a:ext cx="3799284" cy="4118820"/>
            <a:chOff x="0" y="0"/>
            <a:chExt cx="5065712" cy="549175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065776" cy="5491734"/>
            </a:xfrm>
            <a:custGeom>
              <a:avLst/>
              <a:gdLst/>
              <a:ahLst/>
              <a:cxnLst/>
              <a:rect l="l" t="t" r="r" b="b"/>
              <a:pathLst>
                <a:path w="5065776" h="5491734">
                  <a:moveTo>
                    <a:pt x="0" y="160401"/>
                  </a:moveTo>
                  <a:cubicBezTo>
                    <a:pt x="0" y="71755"/>
                    <a:pt x="71755" y="0"/>
                    <a:pt x="160401" y="0"/>
                  </a:cubicBezTo>
                  <a:lnTo>
                    <a:pt x="4905375" y="0"/>
                  </a:lnTo>
                  <a:cubicBezTo>
                    <a:pt x="4993894" y="0"/>
                    <a:pt x="5065776" y="71755"/>
                    <a:pt x="5065776" y="160401"/>
                  </a:cubicBezTo>
                  <a:lnTo>
                    <a:pt x="5065776" y="5331333"/>
                  </a:lnTo>
                  <a:cubicBezTo>
                    <a:pt x="5065776" y="5419852"/>
                    <a:pt x="4994021" y="5491734"/>
                    <a:pt x="4905375" y="5491734"/>
                  </a:cubicBezTo>
                  <a:lnTo>
                    <a:pt x="160401" y="5491734"/>
                  </a:lnTo>
                  <a:cubicBezTo>
                    <a:pt x="71755" y="5491734"/>
                    <a:pt x="0" y="5419979"/>
                    <a:pt x="0" y="533133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13865723" y="2701976"/>
            <a:ext cx="311795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Monitor &amp; compensate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865723" y="3795112"/>
            <a:ext cx="3117952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Continuously monitor timestamps, detect drift, and apply software correction when needed.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480356" y="6735070"/>
            <a:ext cx="7843990" cy="2315023"/>
            <a:chOff x="0" y="0"/>
            <a:chExt cx="10458653" cy="308669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458577" cy="3086735"/>
            </a:xfrm>
            <a:custGeom>
              <a:avLst/>
              <a:gdLst/>
              <a:ahLst/>
              <a:cxnLst/>
              <a:rect l="l" t="t" r="r" b="b"/>
              <a:pathLst>
                <a:path w="10458577" h="3086735">
                  <a:moveTo>
                    <a:pt x="0" y="161417"/>
                  </a:moveTo>
                  <a:cubicBezTo>
                    <a:pt x="0" y="72263"/>
                    <a:pt x="72263" y="0"/>
                    <a:pt x="161417" y="0"/>
                  </a:cubicBezTo>
                  <a:lnTo>
                    <a:pt x="10297160" y="0"/>
                  </a:lnTo>
                  <a:cubicBezTo>
                    <a:pt x="10386314" y="0"/>
                    <a:pt x="10458577" y="72263"/>
                    <a:pt x="10458577" y="161417"/>
                  </a:cubicBezTo>
                  <a:lnTo>
                    <a:pt x="10458577" y="2925318"/>
                  </a:lnTo>
                  <a:cubicBezTo>
                    <a:pt x="10458577" y="3014472"/>
                    <a:pt x="10386314" y="3086735"/>
                    <a:pt x="10297160" y="3086735"/>
                  </a:cubicBezTo>
                  <a:lnTo>
                    <a:pt x="161417" y="3086735"/>
                  </a:lnTo>
                  <a:cubicBezTo>
                    <a:pt x="72263" y="3086735"/>
                    <a:pt x="0" y="3014472"/>
                    <a:pt x="0" y="2925318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9821018" y="7066207"/>
            <a:ext cx="7162648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Graceful degradation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821018" y="7716441"/>
            <a:ext cx="7162648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Design perception to fall back safely if sync quality degrades (wider safety margins, reduced autonomy).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1630413"/>
            <a:ext cx="9445523" cy="143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Conclusion — Why Synchronization Matters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3406378"/>
            <a:ext cx="9445523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Multi‑camera systems significantly enhance perception, but only if frames are temporally aligned. Proper sync (hardware + network + software validation) yields: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0238" y="5086198"/>
            <a:ext cx="9445523" cy="164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Accurate object detection and reliable tracking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Correct distance and 3D reconstruction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Improved safety and decision‑making in autonomous systems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850238" y="7049986"/>
            <a:ext cx="9445523" cy="1587551"/>
            <a:chOff x="0" y="0"/>
            <a:chExt cx="12594031" cy="21167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3955" cy="2116709"/>
            </a:xfrm>
            <a:custGeom>
              <a:avLst/>
              <a:gdLst/>
              <a:ahLst/>
              <a:cxnLst/>
              <a:rect l="l" t="t" r="r" b="b"/>
              <a:pathLst>
                <a:path w="12593955" h="211670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2435205" y="0"/>
                  </a:lnTo>
                  <a:cubicBezTo>
                    <a:pt x="12522836" y="0"/>
                    <a:pt x="12593955" y="71120"/>
                    <a:pt x="12593955" y="158750"/>
                  </a:cubicBezTo>
                  <a:lnTo>
                    <a:pt x="12593955" y="1957959"/>
                  </a:lnTo>
                  <a:cubicBezTo>
                    <a:pt x="12593955" y="2045589"/>
                    <a:pt x="12522836" y="2116709"/>
                    <a:pt x="12435205" y="2116709"/>
                  </a:cubicBezTo>
                  <a:lnTo>
                    <a:pt x="158750" y="2116709"/>
                  </a:lnTo>
                  <a:cubicBezTo>
                    <a:pt x="71120" y="2116709"/>
                    <a:pt x="0" y="2045589"/>
                    <a:pt x="0" y="195795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8133750" y="7451522"/>
            <a:ext cx="354359" cy="283521"/>
            <a:chOff x="0" y="0"/>
            <a:chExt cx="472478" cy="378028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2" r="-680" b="13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771630" y="7318619"/>
            <a:ext cx="8240611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Next steps: decide sync architecture for your project, specify tolerance, and build a validation plan.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674</Words>
  <Application>Microsoft Office PowerPoint</Application>
  <PresentationFormat>Custom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Inter</vt:lpstr>
      <vt:lpstr>Inter Bold</vt:lpstr>
      <vt:lpstr>Arial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Synchronization-Issues-in-MultiCamera-Systems.pptx</dc:title>
  <dc:creator>florina k</dc:creator>
  <cp:lastModifiedBy>florina k</cp:lastModifiedBy>
  <cp:revision>2</cp:revision>
  <dcterms:created xsi:type="dcterms:W3CDTF">2006-08-16T00:00:00Z</dcterms:created>
  <dcterms:modified xsi:type="dcterms:W3CDTF">2026-07-26T18:02:51Z</dcterms:modified>
  <dc:identifier>DAHQgY0gIMo</dc:identifier>
</cp:coreProperties>
</file>